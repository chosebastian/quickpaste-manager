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58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낸스 파이" userId="182f4ffc804ea3d4" providerId="LiveId" clId="{932ED29C-41E6-4925-98FB-6AD06A0DCE7A}"/>
    <pc:docChg chg="custSel modSld">
      <pc:chgData name="낸스 파이" userId="182f4ffc804ea3d4" providerId="LiveId" clId="{932ED29C-41E6-4925-98FB-6AD06A0DCE7A}" dt="2026-06-01T09:29:58.874" v="127" actId="14100"/>
      <pc:docMkLst>
        <pc:docMk/>
      </pc:docMkLst>
      <pc:sldChg chg="delSp modSp mod">
        <pc:chgData name="낸스 파이" userId="182f4ffc804ea3d4" providerId="LiveId" clId="{932ED29C-41E6-4925-98FB-6AD06A0DCE7A}" dt="2026-06-01T09:27:31.455" v="96" actId="20577"/>
        <pc:sldMkLst>
          <pc:docMk/>
          <pc:sldMk cId="0" sldId="256"/>
        </pc:sldMkLst>
        <pc:spChg chg="mod">
          <ac:chgData name="낸스 파이" userId="182f4ffc804ea3d4" providerId="LiveId" clId="{932ED29C-41E6-4925-98FB-6AD06A0DCE7A}" dt="2026-06-01T09:27:12.097" v="3" actId="14100"/>
          <ac:spMkLst>
            <pc:docMk/>
            <pc:sldMk cId="0" sldId="256"/>
            <ac:spMk id="15" creationId="{00000000-0000-0000-0000-000000000000}"/>
          </ac:spMkLst>
        </pc:spChg>
        <pc:spChg chg="del">
          <ac:chgData name="낸스 파이" userId="182f4ffc804ea3d4" providerId="LiveId" clId="{932ED29C-41E6-4925-98FB-6AD06A0DCE7A}" dt="2026-06-01T09:27:01.210" v="0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7:08.765" v="2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7:31.455" v="96" actId="20577"/>
          <ac:spMkLst>
            <pc:docMk/>
            <pc:sldMk cId="0" sldId="256"/>
            <ac:spMk id="18" creationId="{00000000-0000-0000-0000-000000000000}"/>
          </ac:spMkLst>
        </pc:spChg>
      </pc:sldChg>
      <pc:sldChg chg="modSp mod">
        <pc:chgData name="낸스 파이" userId="182f4ffc804ea3d4" providerId="LiveId" clId="{932ED29C-41E6-4925-98FB-6AD06A0DCE7A}" dt="2026-06-01T09:28:19.425" v="114" actId="14100"/>
        <pc:sldMkLst>
          <pc:docMk/>
          <pc:sldMk cId="0" sldId="257"/>
        </pc:sldMkLst>
        <pc:spChg chg="mod">
          <ac:chgData name="낸스 파이" userId="182f4ffc804ea3d4" providerId="LiveId" clId="{932ED29C-41E6-4925-98FB-6AD06A0DCE7A}" dt="2026-06-01T09:27:58.353" v="109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11.071" v="112" actId="12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04.617" v="110" actId="122"/>
          <ac:spMkLst>
            <pc:docMk/>
            <pc:sldMk cId="0" sldId="257"/>
            <ac:spMk id="12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13.584" v="113" actId="12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07.642" v="111" actId="12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7:48.770" v="108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7:40.577" v="97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7:44.021" v="98" actId="1076"/>
          <ac:spMkLst>
            <pc:docMk/>
            <pc:sldMk cId="0" sldId="257"/>
            <ac:spMk id="19" creationId="{00000000-0000-0000-0000-000000000000}"/>
          </ac:spMkLst>
        </pc:spChg>
        <pc:cxnChg chg="mod">
          <ac:chgData name="낸스 파이" userId="182f4ffc804ea3d4" providerId="LiveId" clId="{932ED29C-41E6-4925-98FB-6AD06A0DCE7A}" dt="2026-06-01T09:28:19.425" v="114" actId="14100"/>
          <ac:cxnSpMkLst>
            <pc:docMk/>
            <pc:sldMk cId="0" sldId="257"/>
            <ac:cxnSpMk id="16" creationId="{00000000-0000-0000-0000-000000000000}"/>
          </ac:cxnSpMkLst>
        </pc:cxnChg>
      </pc:sldChg>
      <pc:sldChg chg="modSp mod">
        <pc:chgData name="낸스 파이" userId="182f4ffc804ea3d4" providerId="LiveId" clId="{932ED29C-41E6-4925-98FB-6AD06A0DCE7A}" dt="2026-06-01T09:28:25.210" v="115" actId="14100"/>
        <pc:sldMkLst>
          <pc:docMk/>
          <pc:sldMk cId="0" sldId="258"/>
        </pc:sldMkLst>
        <pc:spChg chg="mod">
          <ac:chgData name="낸스 파이" userId="182f4ffc804ea3d4" providerId="LiveId" clId="{932ED29C-41E6-4925-98FB-6AD06A0DCE7A}" dt="2026-06-01T09:28:25.210" v="115" actId="14100"/>
          <ac:spMkLst>
            <pc:docMk/>
            <pc:sldMk cId="0" sldId="258"/>
            <ac:spMk id="8" creationId="{00000000-0000-0000-0000-000000000000}"/>
          </ac:spMkLst>
        </pc:spChg>
      </pc:sldChg>
      <pc:sldChg chg="delSp modSp mod">
        <pc:chgData name="낸스 파이" userId="182f4ffc804ea3d4" providerId="LiveId" clId="{932ED29C-41E6-4925-98FB-6AD06A0DCE7A}" dt="2026-06-01T09:28:42.189" v="117" actId="1076"/>
        <pc:sldMkLst>
          <pc:docMk/>
          <pc:sldMk cId="0" sldId="259"/>
        </pc:sldMkLst>
        <pc:spChg chg="del">
          <ac:chgData name="낸스 파이" userId="182f4ffc804ea3d4" providerId="LiveId" clId="{932ED29C-41E6-4925-98FB-6AD06A0DCE7A}" dt="2026-06-01T09:28:39.211" v="116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42.189" v="117" actId="1076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낸스 파이" userId="182f4ffc804ea3d4" providerId="LiveId" clId="{932ED29C-41E6-4925-98FB-6AD06A0DCE7A}" dt="2026-06-01T09:28:58.713" v="119" actId="14100"/>
        <pc:sldMkLst>
          <pc:docMk/>
          <pc:sldMk cId="0" sldId="261"/>
        </pc:sldMkLst>
        <pc:spChg chg="mod">
          <ac:chgData name="낸스 파이" userId="182f4ffc804ea3d4" providerId="LiveId" clId="{932ED29C-41E6-4925-98FB-6AD06A0DCE7A}" dt="2026-06-01T09:28:58.713" v="119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8:54.966" v="118" actId="14100"/>
          <ac:spMkLst>
            <pc:docMk/>
            <pc:sldMk cId="0" sldId="261"/>
            <ac:spMk id="12" creationId="{00000000-0000-0000-0000-000000000000}"/>
          </ac:spMkLst>
        </pc:spChg>
      </pc:sldChg>
      <pc:sldChg chg="delSp modSp mod">
        <pc:chgData name="낸스 파이" userId="182f4ffc804ea3d4" providerId="LiveId" clId="{932ED29C-41E6-4925-98FB-6AD06A0DCE7A}" dt="2026-06-01T09:29:26.433" v="124" actId="14100"/>
        <pc:sldMkLst>
          <pc:docMk/>
          <pc:sldMk cId="0" sldId="262"/>
        </pc:sldMkLst>
        <pc:spChg chg="mod">
          <ac:chgData name="낸스 파이" userId="182f4ffc804ea3d4" providerId="LiveId" clId="{932ED29C-41E6-4925-98FB-6AD06A0DCE7A}" dt="2026-06-01T09:29:26.433" v="124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9:12.661" v="121" actId="1076"/>
          <ac:spMkLst>
            <pc:docMk/>
            <pc:sldMk cId="0" sldId="262"/>
            <ac:spMk id="19" creationId="{00000000-0000-0000-0000-000000000000}"/>
          </ac:spMkLst>
        </pc:spChg>
        <pc:spChg chg="del">
          <ac:chgData name="낸스 파이" userId="182f4ffc804ea3d4" providerId="LiveId" clId="{932ED29C-41E6-4925-98FB-6AD06A0DCE7A}" dt="2026-06-01T09:29:09.404" v="120" actId="478"/>
          <ac:spMkLst>
            <pc:docMk/>
            <pc:sldMk cId="0" sldId="262"/>
            <ac:spMk id="20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9:15.234" v="122" actId="1076"/>
          <ac:spMkLst>
            <pc:docMk/>
            <pc:sldMk cId="0" sldId="262"/>
            <ac:spMk id="21" creationId="{00000000-0000-0000-0000-000000000000}"/>
          </ac:spMkLst>
        </pc:spChg>
      </pc:sldChg>
      <pc:sldChg chg="delSp modSp mod">
        <pc:chgData name="낸스 파이" userId="182f4ffc804ea3d4" providerId="LiveId" clId="{932ED29C-41E6-4925-98FB-6AD06A0DCE7A}" dt="2026-06-01T09:29:47.889" v="126" actId="1076"/>
        <pc:sldMkLst>
          <pc:docMk/>
          <pc:sldMk cId="0" sldId="264"/>
        </pc:sldMkLst>
        <pc:spChg chg="del">
          <ac:chgData name="낸스 파이" userId="182f4ffc804ea3d4" providerId="LiveId" clId="{932ED29C-41E6-4925-98FB-6AD06A0DCE7A}" dt="2026-06-01T09:29:43.831" v="125" actId="478"/>
          <ac:spMkLst>
            <pc:docMk/>
            <pc:sldMk cId="0" sldId="264"/>
            <ac:spMk id="18" creationId="{00000000-0000-0000-0000-000000000000}"/>
          </ac:spMkLst>
        </pc:spChg>
        <pc:spChg chg="mod">
          <ac:chgData name="낸스 파이" userId="182f4ffc804ea3d4" providerId="LiveId" clId="{932ED29C-41E6-4925-98FB-6AD06A0DCE7A}" dt="2026-06-01T09:29:47.889" v="126" actId="1076"/>
          <ac:spMkLst>
            <pc:docMk/>
            <pc:sldMk cId="0" sldId="264"/>
            <ac:spMk id="19" creationId="{00000000-0000-0000-0000-000000000000}"/>
          </ac:spMkLst>
        </pc:spChg>
      </pc:sldChg>
      <pc:sldChg chg="modSp mod">
        <pc:chgData name="낸스 파이" userId="182f4ffc804ea3d4" providerId="LiveId" clId="{932ED29C-41E6-4925-98FB-6AD06A0DCE7A}" dt="2026-06-01T09:29:58.874" v="127" actId="14100"/>
        <pc:sldMkLst>
          <pc:docMk/>
          <pc:sldMk cId="0" sldId="265"/>
        </pc:sldMkLst>
        <pc:spChg chg="mod">
          <ac:chgData name="낸스 파이" userId="182f4ffc804ea3d4" providerId="LiveId" clId="{932ED29C-41E6-4925-98FB-6AD06A0DCE7A}" dt="2026-06-01T09:29:58.874" v="127" actId="14100"/>
          <ac:spMkLst>
            <pc:docMk/>
            <pc:sldMk cId="0" sldId="265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233A"/>
                </a:solidFill>
                <a:latin typeface="맑은 고딕"/>
              </a:defRPr>
            </a:pPr>
            <a:r>
              <a:t>QuickPaste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F5DB5"/>
                </a:solidFill>
                <a:latin typeface="맑은 고딕"/>
              </a:defRPr>
            </a:pPr>
            <a:r>
              <a:t>전역 호출 기반 텍스트·이미지 상용구 관리 유틸리티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603504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2B38"/>
                </a:solidFill>
                <a:latin typeface="맑은 고딕"/>
              </a:defRPr>
            </a:pPr>
            <a:r>
              <a:t>자주 쓰는 문구와 이미지 자산을 카테고리로 저장하고,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B38"/>
                </a:solidFill>
                <a:latin typeface="맑은 고딕"/>
              </a:defRPr>
            </a:pPr>
            <a:r>
              <a:t>어느 프로그램에서든 단축키로 팝업을 열어 즉시 붙여넣는 Windows 생산성 도구</a:t>
            </a:r>
          </a:p>
        </p:txBody>
      </p:sp>
      <p:pic>
        <p:nvPicPr>
          <p:cNvPr id="8" name="Picture 7" descr="popup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794912"/>
            <a:ext cx="2011680" cy="28450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777240"/>
            <a:ext cx="2011680" cy="288036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op5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250932"/>
            <a:ext cx="3337560" cy="245925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97880" y="3246120"/>
            <a:ext cx="3337560" cy="246888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ategory_fra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397481"/>
            <a:ext cx="2788920" cy="20289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15400" y="3063240"/>
            <a:ext cx="2788920" cy="269748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_fra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18875"/>
            <a:ext cx="731520" cy="9064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435608" y="4892040"/>
            <a:ext cx="42265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10792" y="5202449"/>
            <a:ext cx="4151376" cy="4480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작업을</a:t>
            </a:r>
            <a:r>
              <a:rPr dirty="0"/>
              <a:t> “</a:t>
            </a:r>
            <a:r>
              <a:rPr dirty="0" err="1"/>
              <a:t>호출</a:t>
            </a:r>
            <a:r>
              <a:rPr dirty="0"/>
              <a:t> → </a:t>
            </a:r>
            <a:r>
              <a:rPr dirty="0" err="1"/>
              <a:t>선택</a:t>
            </a:r>
            <a:r>
              <a:rPr dirty="0"/>
              <a:t> → </a:t>
            </a:r>
            <a:r>
              <a:rPr dirty="0" err="1"/>
              <a:t>붙여넣기</a:t>
            </a:r>
            <a:r>
              <a:rPr dirty="0"/>
              <a:t>” 한 </a:t>
            </a:r>
            <a:r>
              <a:rPr dirty="0" err="1"/>
              <a:t>번의</a:t>
            </a:r>
            <a:r>
              <a:rPr dirty="0"/>
              <a:t> </a:t>
            </a:r>
            <a:r>
              <a:rPr dirty="0" err="1"/>
              <a:t>흐름으로</a:t>
            </a:r>
            <a:r>
              <a:rPr dirty="0"/>
              <a:t> </a:t>
            </a:r>
            <a:r>
              <a:rPr dirty="0" err="1"/>
              <a:t>단축한</a:t>
            </a:r>
            <a:r>
              <a:rPr dirty="0"/>
              <a:t> </a:t>
            </a:r>
            <a:r>
              <a:rPr dirty="0" err="1"/>
              <a:t>실무형</a:t>
            </a:r>
            <a:r>
              <a:rPr dirty="0"/>
              <a:t>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유틸리티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796644" y="6473952"/>
            <a:ext cx="386195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rPr lang="ko-KR" altLang="en-US" dirty="0"/>
              <a:t>인공지능 응용소프트웨어 학과 </a:t>
            </a:r>
            <a:r>
              <a:rPr lang="en-US" altLang="ko-KR" dirty="0"/>
              <a:t>| 202505030 | </a:t>
            </a:r>
            <a:r>
              <a:rPr lang="ko-KR" altLang="en-US" dirty="0"/>
              <a:t>조재희 </a:t>
            </a:r>
            <a:r>
              <a:rPr dirty="0"/>
              <a:t>| </a:t>
            </a:r>
            <a:r>
              <a:rPr dirty="0" err="1"/>
              <a:t>QuickPaste</a:t>
            </a:r>
            <a:r>
              <a:rPr dirty="0"/>
              <a:t>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1. 문제 정의: 반복 입력이 업무 흐름을 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33A"/>
                </a:solidFill>
                <a:latin typeface="맑은 고딕"/>
              </a:defRPr>
            </a:pPr>
            <a:r>
              <a:t>반복 입력의 실제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4892040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CS </a:t>
            </a:r>
            <a:r>
              <a:rPr dirty="0" err="1"/>
              <a:t>답변</a:t>
            </a:r>
            <a:r>
              <a:rPr dirty="0"/>
              <a:t>, </a:t>
            </a:r>
            <a:r>
              <a:rPr dirty="0" err="1"/>
              <a:t>계좌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, </a:t>
            </a:r>
            <a:r>
              <a:rPr dirty="0" err="1"/>
              <a:t>이메일</a:t>
            </a:r>
            <a:r>
              <a:rPr dirty="0"/>
              <a:t> </a:t>
            </a:r>
            <a:r>
              <a:rPr dirty="0" err="1"/>
              <a:t>인사말을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 </a:t>
            </a:r>
            <a:r>
              <a:rPr dirty="0" err="1"/>
              <a:t>복사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서명·도장·회사</a:t>
            </a:r>
            <a:r>
              <a:rPr dirty="0"/>
              <a:t> </a:t>
            </a:r>
            <a:r>
              <a:rPr dirty="0" err="1"/>
              <a:t>로고</a:t>
            </a:r>
            <a:r>
              <a:rPr dirty="0"/>
              <a:t> </a:t>
            </a:r>
            <a:r>
              <a:rPr dirty="0" err="1"/>
              <a:t>이미지는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탐색기까지</a:t>
            </a:r>
            <a:r>
              <a:rPr dirty="0"/>
              <a:t> </a:t>
            </a:r>
            <a:r>
              <a:rPr dirty="0" err="1"/>
              <a:t>왕복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메모장</a:t>
            </a:r>
            <a:r>
              <a:rPr dirty="0"/>
              <a:t>, </a:t>
            </a:r>
            <a:r>
              <a:rPr dirty="0" err="1"/>
              <a:t>문서</a:t>
            </a:r>
            <a:r>
              <a:rPr dirty="0"/>
              <a:t>, </a:t>
            </a:r>
            <a:r>
              <a:rPr dirty="0" err="1"/>
              <a:t>브라우저</a:t>
            </a:r>
            <a:r>
              <a:rPr dirty="0"/>
              <a:t>, </a:t>
            </a:r>
            <a:r>
              <a:rPr dirty="0" err="1"/>
              <a:t>메신저를</a:t>
            </a:r>
            <a:r>
              <a:rPr dirty="0"/>
              <a:t> </a:t>
            </a:r>
            <a:r>
              <a:rPr dirty="0" err="1"/>
              <a:t>오가며</a:t>
            </a:r>
            <a:r>
              <a:rPr dirty="0"/>
              <a:t> </a:t>
            </a:r>
            <a:r>
              <a:rPr dirty="0" err="1"/>
              <a:t>집중력</a:t>
            </a:r>
            <a:r>
              <a:rPr dirty="0"/>
              <a:t> </a:t>
            </a:r>
            <a:r>
              <a:rPr dirty="0" err="1"/>
              <a:t>저하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개인별</a:t>
            </a:r>
            <a:r>
              <a:rPr dirty="0"/>
              <a:t> </a:t>
            </a:r>
            <a:r>
              <a:rPr dirty="0" err="1"/>
              <a:t>문구</a:t>
            </a:r>
            <a:r>
              <a:rPr dirty="0"/>
              <a:t> </a:t>
            </a:r>
            <a:r>
              <a:rPr dirty="0" err="1"/>
              <a:t>관리로</a:t>
            </a:r>
            <a:r>
              <a:rPr dirty="0"/>
              <a:t> 팀 내 </a:t>
            </a:r>
            <a:r>
              <a:rPr dirty="0" err="1"/>
              <a:t>응대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편차</a:t>
            </a:r>
            <a:r>
              <a:rPr dirty="0"/>
              <a:t> </a:t>
            </a:r>
            <a:r>
              <a:rPr dirty="0" err="1"/>
              <a:t>발생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715000" y="960120"/>
            <a:ext cx="260604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9592" y="1088136"/>
            <a:ext cx="2276856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방식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879592" y="1453896"/>
            <a:ext cx="2276856" cy="21611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문서</a:t>
            </a:r>
            <a:r>
              <a:rPr dirty="0"/>
              <a:t>/</a:t>
            </a:r>
            <a:r>
              <a:rPr dirty="0" err="1"/>
              <a:t>메모장</a:t>
            </a:r>
            <a:r>
              <a:rPr dirty="0"/>
              <a:t> </a:t>
            </a:r>
            <a:r>
              <a:rPr dirty="0" err="1"/>
              <a:t>열기</a:t>
            </a:r>
            <a:endParaRPr dirty="0"/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문구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복사</a:t>
            </a:r>
            <a:endParaRPr dirty="0"/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작업</a:t>
            </a:r>
            <a:r>
              <a:rPr dirty="0"/>
              <a:t> 앱 </a:t>
            </a:r>
            <a:r>
              <a:rPr dirty="0" err="1"/>
              <a:t>복귀</a:t>
            </a:r>
            <a:endParaRPr dirty="0"/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붙여넣기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732520" y="960120"/>
            <a:ext cx="2606040" cy="41605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2" y="1088136"/>
            <a:ext cx="2276856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방식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897112" y="1453896"/>
            <a:ext cx="2276856" cy="119673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단축키 호출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팝업에서 선택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↓</a:t>
            </a:r>
          </a:p>
          <a:p>
            <a:pPr algn="ctr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즉시 붙여넣기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8302752" y="2834640"/>
            <a:ext cx="429768" cy="0"/>
          </a:xfrm>
          <a:prstGeom prst="line">
            <a:avLst/>
          </a:prstGeom>
          <a:ln w="381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5223510"/>
            <a:ext cx="10789920" cy="731520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5266943"/>
            <a:ext cx="104607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해결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564377"/>
            <a:ext cx="10460736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사용자가 작업 중인 앱을 벗어나지 않고, 텍스트와 이미지 상용구를 같은 방식으로 빠르게 삽입하게 만든다.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2. 제품 개념: 전역 호출 + 자체 팝업 + 자동 붙여넣기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707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8233A"/>
                </a:solidFill>
                <a:latin typeface="맑은 고딕"/>
              </a:defRPr>
            </a:pPr>
            <a:r>
              <a:rPr dirty="0"/>
              <a:t>Shell Extension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안정적인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 </a:t>
            </a:r>
            <a:r>
              <a:rPr dirty="0" err="1"/>
              <a:t>팝업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채택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1874519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28216"/>
            <a:ext cx="15453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①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93976"/>
            <a:ext cx="1545336" cy="14538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Ctrl+Shift+V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또는 트레이 메뉴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7" y="2606040"/>
            <a:ext cx="256033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600200"/>
            <a:ext cx="1874519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1728216"/>
            <a:ext cx="15453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② 팝업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093976"/>
            <a:ext cx="1545336" cy="14538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마우스 커서 인접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검색·Top5·카테고리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3168" y="2606040"/>
            <a:ext cx="256032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600200"/>
            <a:ext cx="1874519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2" y="1728216"/>
            <a:ext cx="15453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③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093976"/>
            <a:ext cx="1545336" cy="14538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텍스트/이미지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상용구 클릭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13448" y="2606040"/>
            <a:ext cx="256032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1600200"/>
            <a:ext cx="1874519" cy="2057400"/>
          </a:xfrm>
          <a:prstGeom prst="roundRect">
            <a:avLst/>
          </a:prstGeom>
          <a:solidFill>
            <a:srgbClr val="EBF7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25512" y="1728216"/>
            <a:ext cx="15453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19653"/>
                </a:solidFill>
                <a:latin typeface="맑은 고딕"/>
              </a:defRPr>
            </a:pPr>
            <a:r>
              <a:t>④ 삽입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093976"/>
            <a:ext cx="1545336" cy="14538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클립보드 등록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Ctrl+V 자동 입력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53728" y="2606040"/>
            <a:ext cx="256032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0" y="1600200"/>
            <a:ext cx="1874519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28216"/>
            <a:ext cx="15453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⑤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093976"/>
            <a:ext cx="1545336" cy="14538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사용 횟수·최근 사용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Top5 점수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343400"/>
            <a:ext cx="5257800" cy="118872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471416"/>
            <a:ext cx="49286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설계상 장점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837176"/>
            <a:ext cx="4928616" cy="5852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앱별 우클릭 메뉴를 건드리지 않기 때문에 Word, Chrome, 메신저, 웹앱 등 다양한 대상에서 동일한 UX를 제공할 수 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343400"/>
            <a:ext cx="4892040" cy="118872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4471416"/>
            <a:ext cx="4562855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구현상 장점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4837176"/>
            <a:ext cx="4562855" cy="5852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전역 단축키, 클립보드, 팝업 UI, SQLite 저장소가 느슨하게 결합되어 기능 확장과 오류 격리가 쉽다.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3. 핵심 화면: 커서 옆에 뜨는 메인 팝업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UI ① Main Popup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pic>
        <p:nvPicPr>
          <p:cNvPr id="8" name="Picture 7" descr="popup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84" y="868680"/>
            <a:ext cx="3782391" cy="534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868680"/>
            <a:ext cx="4023360" cy="534924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8686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A"/>
                </a:solidFill>
                <a:latin typeface="맑은 고딕"/>
              </a:defRPr>
            </a:pPr>
            <a:r>
              <a:t>한 화면 안에 자주 쓰는 동선을 압축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508760"/>
            <a:ext cx="292608" cy="292608"/>
          </a:xfrm>
          <a:prstGeom prst="round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1499616"/>
            <a:ext cx="4736592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050" b="1">
                <a:solidFill>
                  <a:srgbClr val="242B38"/>
                </a:solidFill>
                <a:latin typeface="맑은 고딕"/>
              </a:defRPr>
            </a:pPr>
            <a:r>
              <a:t>검색: 제목·태그·본문 기준으로 즉시 필터링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148840"/>
            <a:ext cx="292608" cy="292608"/>
          </a:xfrm>
          <a:prstGeom prst="round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2139696"/>
            <a:ext cx="4736592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050" b="1">
                <a:solidFill>
                  <a:srgbClr val="242B38"/>
                </a:solidFill>
                <a:latin typeface="맑은 고딕"/>
              </a:defRPr>
            </a:pPr>
            <a:r>
              <a:t>Top 5: 자주 쓰는 상용구를 상단에 자동 노출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788920"/>
            <a:ext cx="292608" cy="292608"/>
          </a:xfrm>
          <a:prstGeom prst="round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2779776"/>
            <a:ext cx="4736592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050" b="1">
                <a:solidFill>
                  <a:srgbClr val="242B38"/>
                </a:solidFill>
                <a:latin typeface="맑은 고딕"/>
              </a:defRPr>
            </a:pPr>
            <a:r>
              <a:t>카테고리: 일반·고객응대·이메일 등 1단 구조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429000"/>
            <a:ext cx="292608" cy="292608"/>
          </a:xfrm>
          <a:prstGeom prst="round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3419856"/>
            <a:ext cx="4736592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050" b="1">
                <a:solidFill>
                  <a:srgbClr val="242B38"/>
                </a:solidFill>
                <a:latin typeface="맑은 고딕"/>
              </a:defRPr>
            </a:pPr>
            <a:r>
              <a:t>하단 액션: 추가·수정·삭제·설정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4069080"/>
            <a:ext cx="292608" cy="292608"/>
          </a:xfrm>
          <a:prstGeom prst="roundRect">
            <a:avLst/>
          </a:prstGeom>
          <a:solidFill>
            <a:srgbClr val="1F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0408" y="4059936"/>
            <a:ext cx="4736592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050" b="1">
                <a:solidFill>
                  <a:srgbClr val="242B38"/>
                </a:solidFill>
                <a:latin typeface="맑은 고딕"/>
              </a:defRPr>
            </a:pPr>
            <a:r>
              <a:t>닫기/도움말: 사용 중 빠른 안내와 팝업 종료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5074920"/>
            <a:ext cx="5760720" cy="868680"/>
          </a:xfrm>
          <a:prstGeom prst="roundRect">
            <a:avLst/>
          </a:prstGeom>
          <a:solidFill>
            <a:srgbClr val="EBF2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12664" y="5337049"/>
            <a:ext cx="5431536" cy="2651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앱을</a:t>
            </a:r>
            <a:r>
              <a:rPr dirty="0"/>
              <a:t> </a:t>
            </a:r>
            <a:r>
              <a:rPr dirty="0" err="1"/>
              <a:t>벗어나지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마우스</a:t>
            </a:r>
            <a:r>
              <a:rPr dirty="0"/>
              <a:t> </a:t>
            </a:r>
            <a:r>
              <a:rPr dirty="0" err="1"/>
              <a:t>커서</a:t>
            </a:r>
            <a:r>
              <a:rPr dirty="0"/>
              <a:t> </a:t>
            </a:r>
            <a:r>
              <a:rPr dirty="0" err="1"/>
              <a:t>근처에서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선택하는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UX이다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4. Top 5 기능: 자주 쓰는 항목을 가장 빠르게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UI ② Top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pic>
        <p:nvPicPr>
          <p:cNvPr id="8" name="Picture 7" descr="top5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18" y="868680"/>
            <a:ext cx="6391002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868680"/>
            <a:ext cx="6400800" cy="470916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9144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A"/>
                </a:solidFill>
                <a:latin typeface="맑은 고딕"/>
              </a:defRPr>
            </a:pPr>
            <a:r>
              <a:t>마우스 오버로 전체 내용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691640"/>
            <a:ext cx="388620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42B38"/>
                </a:solidFill>
                <a:latin typeface="맑은 고딕"/>
              </a:defRPr>
            </a:pPr>
            <a:r>
              <a:t>• 목록에는 2줄 요약으로 공간 절약</a:t>
            </a:r>
          </a:p>
          <a:p>
            <a:pPr>
              <a:spcAft>
                <a:spcPts val="800"/>
              </a:spcAft>
              <a:defRPr sz="1400">
                <a:solidFill>
                  <a:srgbClr val="242B38"/>
                </a:solidFill>
                <a:latin typeface="맑은 고딕"/>
              </a:defRPr>
            </a:pPr>
            <a:r>
              <a:t>• 우측 패널에서 전체 본문을 확인</a:t>
            </a:r>
          </a:p>
          <a:p>
            <a:pPr>
              <a:spcAft>
                <a:spcPts val="800"/>
              </a:spcAft>
              <a:defRPr sz="1400">
                <a:solidFill>
                  <a:srgbClr val="242B38"/>
                </a:solidFill>
                <a:latin typeface="맑은 고딕"/>
              </a:defRPr>
            </a:pPr>
            <a:r>
              <a:t>• 항목 클릭 시 현재 작업 위치에 즉시 붙여넣기</a:t>
            </a:r>
          </a:p>
          <a:p>
            <a:pPr>
              <a:spcAft>
                <a:spcPts val="800"/>
              </a:spcAft>
              <a:defRPr sz="1400">
                <a:solidFill>
                  <a:srgbClr val="242B38"/>
                </a:solidFill>
                <a:latin typeface="맑은 고딕"/>
              </a:defRPr>
            </a:pPr>
            <a:r>
              <a:t>• 성공한 경우에만 팝업을 닫아 실패 복구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251960"/>
            <a:ext cx="3703320" cy="960120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25512" y="4379976"/>
            <a:ext cx="33741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745736"/>
            <a:ext cx="3374136" cy="3566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사용 빈도 기반 Top 5로 “가장 많이 쓰는 문구” 접근 시간을 최소화했다.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5. 카테고리·이미지 기능: 텍스트를 넘어 업무 자산까지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UI ③ Category &amp;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pic>
        <p:nvPicPr>
          <p:cNvPr id="8" name="Picture 7" descr="category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56" y="822960"/>
            <a:ext cx="6410046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822960"/>
            <a:ext cx="6446520" cy="466344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8686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8233A"/>
                </a:solidFill>
                <a:latin typeface="맑은 고딕"/>
              </a:defRPr>
            </a:pPr>
            <a:r>
              <a:t>이미지 상용구까지 동일한 방식으로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600200"/>
            <a:ext cx="4170680" cy="12495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카테고리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우측에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상용구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>
              <a:spcAft>
                <a:spcPts val="800"/>
              </a:spcAft>
              <a:defRPr sz="138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항목은</a:t>
            </a:r>
            <a:r>
              <a:rPr dirty="0"/>
              <a:t> </a:t>
            </a:r>
            <a:r>
              <a:rPr dirty="0" err="1"/>
              <a:t>썸네일과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미리보기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>
              <a:spcAft>
                <a:spcPts val="800"/>
              </a:spcAft>
              <a:defRPr sz="138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미리보기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파일을</a:t>
            </a:r>
            <a:r>
              <a:rPr dirty="0"/>
              <a:t> </a:t>
            </a:r>
            <a:r>
              <a:rPr dirty="0" err="1"/>
              <a:t>열어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Aft>
                <a:spcPts val="800"/>
              </a:spcAft>
              <a:defRPr sz="138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앱에서는</a:t>
            </a:r>
            <a:r>
              <a:rPr dirty="0"/>
              <a:t> </a:t>
            </a:r>
            <a:r>
              <a:rPr dirty="0" err="1"/>
              <a:t>클립보드</a:t>
            </a:r>
            <a:r>
              <a:rPr dirty="0"/>
              <a:t> </a:t>
            </a:r>
            <a:r>
              <a:rPr dirty="0" err="1"/>
              <a:t>이미지로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붙여넣기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60920" y="4434840"/>
            <a:ext cx="3749039" cy="1273810"/>
          </a:xfrm>
          <a:prstGeom prst="roundRect">
            <a:avLst/>
          </a:prstGeom>
          <a:solidFill>
            <a:srgbClr val="EBF7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25512" y="4562855"/>
            <a:ext cx="341985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19653"/>
                </a:solidFill>
                <a:latin typeface="맑은 고딕"/>
              </a:defRPr>
            </a:pPr>
            <a:r>
              <a:t>실무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928616"/>
            <a:ext cx="3419856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서명, 도장, 회사 로고, 본인 사진처럼 반복적으로 삽입하는 이미지 자산을 문구와 같은 UX로 사용할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6. 관리·설정 화면: 사용자가 직접 운영 가능한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Admin &amp;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pic>
        <p:nvPicPr>
          <p:cNvPr id="8" name="Picture 7" descr="manager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43" y="822960"/>
            <a:ext cx="5783313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822960"/>
            <a:ext cx="5806440" cy="406908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tings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422" y="822960"/>
            <a:ext cx="2676235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0" y="822960"/>
            <a:ext cx="2697480" cy="233172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elp_fra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606" y="822960"/>
            <a:ext cx="2345106" cy="2697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89720" y="822960"/>
            <a:ext cx="2468880" cy="269748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ray_fra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657" y="3429000"/>
            <a:ext cx="1320165" cy="1920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0" y="3429000"/>
            <a:ext cx="1325880" cy="1920240"/>
          </a:xfrm>
          <a:prstGeom prst="round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09560" y="3566160"/>
            <a:ext cx="3749039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152" y="3694176"/>
            <a:ext cx="341985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구현 화면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4059935"/>
            <a:ext cx="3522560" cy="9052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상용구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: </a:t>
            </a:r>
            <a:r>
              <a:rPr dirty="0" err="1"/>
              <a:t>카테고리</a:t>
            </a:r>
            <a:r>
              <a:rPr dirty="0"/>
              <a:t>, 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편집을</a:t>
            </a:r>
            <a:r>
              <a:rPr dirty="0"/>
              <a:t> 한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환경설정</a:t>
            </a:r>
            <a:r>
              <a:rPr dirty="0"/>
              <a:t>: </a:t>
            </a:r>
            <a:r>
              <a:rPr dirty="0" err="1"/>
              <a:t>단축키</a:t>
            </a:r>
            <a:r>
              <a:rPr dirty="0"/>
              <a:t>, 휠 </a:t>
            </a:r>
            <a:r>
              <a:rPr dirty="0" err="1"/>
              <a:t>클릭</a:t>
            </a:r>
            <a:r>
              <a:rPr dirty="0"/>
              <a:t>,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옵션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도움말</a:t>
            </a:r>
            <a:r>
              <a:rPr dirty="0"/>
              <a:t>: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언어로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02920" y="5477256"/>
            <a:ext cx="10972800" cy="71323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696712"/>
            <a:ext cx="10643616" cy="109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개발자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비개발자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카테고리와</a:t>
            </a:r>
            <a:r>
              <a:rPr dirty="0"/>
              <a:t> </a:t>
            </a:r>
            <a:r>
              <a:rPr dirty="0" err="1"/>
              <a:t>상용구를</a:t>
            </a:r>
            <a:r>
              <a:rPr dirty="0"/>
              <a:t> </a:t>
            </a:r>
            <a:r>
              <a:rPr dirty="0" err="1"/>
              <a:t>추가·수정·삭제할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완성형</a:t>
            </a:r>
            <a:r>
              <a:rPr dirty="0"/>
              <a:t> </a:t>
            </a:r>
            <a:r>
              <a:rPr dirty="0" err="1"/>
              <a:t>데스크톱</a:t>
            </a:r>
            <a:r>
              <a:rPr dirty="0"/>
              <a:t> </a:t>
            </a:r>
            <a:r>
              <a:rPr dirty="0" err="1"/>
              <a:t>유틸리티로</a:t>
            </a:r>
            <a:r>
              <a:rPr dirty="0"/>
              <a:t> </a:t>
            </a:r>
            <a:r>
              <a:rPr dirty="0" err="1"/>
              <a:t>설계했다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7. 시스템 구조: UI·서비스·저장소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A"/>
                </a:solidFill>
                <a:latin typeface="맑은 고딕"/>
              </a:defRPr>
            </a:pPr>
            <a:r>
              <a:t>AppController 중심의 레이어드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011680" cy="685800"/>
          </a:xfrm>
          <a:prstGeom prst="roundRect">
            <a:avLst/>
          </a:prstGeom>
          <a:solidFill>
            <a:srgbClr val="EBF2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91056"/>
            <a:ext cx="168249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56816"/>
            <a:ext cx="1682496" cy="822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앱 진입점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1810512"/>
            <a:ext cx="457200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325880"/>
            <a:ext cx="2331720" cy="960120"/>
          </a:xfrm>
          <a:prstGeom prst="roundRect">
            <a:avLst/>
          </a:prstGeom>
          <a:solidFill>
            <a:srgbClr val="EBF2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453895"/>
            <a:ext cx="20025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AppController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819656"/>
            <a:ext cx="2002536" cy="3566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초기화·트레이·팝업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서비스 조정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1810512"/>
            <a:ext cx="457200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1051560"/>
            <a:ext cx="21488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179576"/>
            <a:ext cx="181965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UI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1545336"/>
            <a:ext cx="1819656" cy="8595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TrayController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PopupWindow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ManagerWindow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SettingsWindow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051560"/>
            <a:ext cx="233172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88552" y="1179576"/>
            <a:ext cx="20025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Service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545336"/>
            <a:ext cx="2002536" cy="8595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Hotkey / Clipboard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Paste / Mouse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Import·Export / Backup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154680"/>
            <a:ext cx="23317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02152" y="3282696"/>
            <a:ext cx="20025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233A"/>
                </a:solidFill>
                <a:latin typeface="맑은 고딕"/>
              </a:defRPr>
            </a:pPr>
            <a:r>
              <a:t>Repositories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3648456"/>
            <a:ext cx="2002536" cy="4480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Category / Snippet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Asset / Usage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3685032"/>
            <a:ext cx="548640" cy="0"/>
          </a:xfrm>
          <a:prstGeom prst="line">
            <a:avLst/>
          </a:prstGeom>
          <a:ln w="25400">
            <a:solidFill>
              <a:srgbClr val="3E7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3154680"/>
            <a:ext cx="2103120" cy="1051560"/>
          </a:xfrm>
          <a:prstGeom prst="roundRect">
            <a:avLst/>
          </a:prstGeom>
          <a:solidFill>
            <a:srgbClr val="EBF7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282696"/>
            <a:ext cx="17739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19653"/>
                </a:solidFill>
                <a:latin typeface="맑은 고딕"/>
              </a:defRPr>
            </a:pPr>
            <a: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648456"/>
            <a:ext cx="1773936" cy="4480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app.db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3154680"/>
            <a:ext cx="2331720" cy="1051560"/>
          </a:xfrm>
          <a:prstGeom prst="roundRect">
            <a:avLst/>
          </a:prstGeom>
          <a:solidFill>
            <a:srgbClr val="EBF7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3282696"/>
            <a:ext cx="200253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19653"/>
                </a:solidFill>
                <a:latin typeface="맑은 고딕"/>
              </a:defRPr>
            </a:pPr>
            <a:r>
              <a:t>AppData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648456"/>
            <a:ext cx="2002536" cy="4480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%APPDATA%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assets / logs / settings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00600"/>
            <a:ext cx="10424160" cy="86868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928616"/>
            <a:ext cx="1009497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붙여넣기 데이터 흐름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294376"/>
            <a:ext cx="10094976" cy="2651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호출 → PopupWindow → Snippet 선택 → PasteService → ClipboardService → Ctrl+V 자동 입력 → UsageEvent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8. 호환성·안정성·배포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Compatibility &amp;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QuickPaste Manager | Windows 상주형 상용구 관리 유틸리티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1440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042416"/>
            <a:ext cx="30998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Windows 호환성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408176"/>
            <a:ext cx="3099816" cy="3922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공식 지원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Windows 10 64-bit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Windows 11 64-bit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endParaRPr/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주요 대상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Word / Excel / Outlook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Chrome / Edge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Slack / Teams / 카카오톡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VS Code / 일반 웹앱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91440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042416"/>
            <a:ext cx="30998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19653"/>
                </a:solidFill>
                <a:latin typeface="맑은 고딕"/>
              </a:defRPr>
            </a:pPr>
            <a:r>
              <a:t>성능·안정성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408176"/>
            <a:ext cx="3099816" cy="3922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목표 지표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팝업 표시 150ms 이내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텍스트 붙여넣기 300ms 이내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8시간 상주 실행 검증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endParaRPr/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안정성 설계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본문·이미지 지연 로딩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rotating log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실패 시 경고와 팝업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91440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042416"/>
            <a:ext cx="30998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2994A"/>
                </a:solidFill>
                <a:latin typeface="맑은 고딕"/>
              </a:defRPr>
            </a:pPr>
            <a:r>
              <a:t>배포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408176"/>
            <a:ext cx="3099816" cy="39227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빌드 도구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Python 3.12+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PyInstaller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Inno Setup 6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endParaRPr/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산출물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one-folder 실행 파일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설치용 Setup.exe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• AppData에 사용자 데이터 보존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50992"/>
            <a:ext cx="1092708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852668"/>
            <a:ext cx="10597896" cy="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구현을</a:t>
            </a:r>
            <a:r>
              <a:rPr dirty="0"/>
              <a:t> </a:t>
            </a:r>
            <a:r>
              <a:rPr dirty="0" err="1"/>
              <a:t>넘어</a:t>
            </a:r>
            <a:r>
              <a:rPr dirty="0"/>
              <a:t>, </a:t>
            </a:r>
            <a:r>
              <a:rPr dirty="0" err="1"/>
              <a:t>다양한</a:t>
            </a:r>
            <a:r>
              <a:rPr dirty="0"/>
              <a:t> Windows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환경에서</a:t>
            </a:r>
            <a:r>
              <a:rPr dirty="0"/>
              <a:t> </a:t>
            </a:r>
            <a:r>
              <a:rPr dirty="0" err="1"/>
              <a:t>상주</a:t>
            </a:r>
            <a:r>
              <a:rPr dirty="0"/>
              <a:t> </a:t>
            </a:r>
            <a:r>
              <a:rPr dirty="0" err="1"/>
              <a:t>실행되는</a:t>
            </a:r>
            <a:r>
              <a:rPr dirty="0"/>
              <a:t> </a:t>
            </a:r>
            <a:r>
              <a:rPr dirty="0" err="1"/>
              <a:t>데스크톱</a:t>
            </a:r>
            <a:r>
              <a:rPr dirty="0"/>
              <a:t> </a:t>
            </a:r>
            <a:r>
              <a:rPr dirty="0" err="1"/>
              <a:t>유틸리티로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수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호환성과</a:t>
            </a:r>
            <a:r>
              <a:rPr dirty="0"/>
              <a:t> </a:t>
            </a:r>
            <a:r>
              <a:rPr dirty="0" err="1"/>
              <a:t>안정성을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항목으로</a:t>
            </a:r>
            <a:r>
              <a:rPr dirty="0"/>
              <a:t> </a:t>
            </a:r>
            <a:r>
              <a:rPr dirty="0" err="1"/>
              <a:t>관리했다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9. 최종 성과와 향후 개선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CE2EB"/>
                </a:solidFill>
                <a:latin typeface="맑은 고딕"/>
              </a:defRPr>
            </a:pPr>
            <a:r>
              <a:t>Result &amp;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371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ECD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33A"/>
                </a:solidFill>
                <a:latin typeface="맑은 고딕"/>
              </a:defRPr>
            </a:pPr>
            <a:r>
              <a:t>프로젝트 최종 성과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92608" cy="292608"/>
          </a:xfrm>
          <a:prstGeom prst="round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91056"/>
            <a:ext cx="52120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B38"/>
                </a:solidFill>
                <a:latin typeface="맑은 고딕"/>
              </a:defRPr>
            </a:pPr>
            <a:r>
              <a:t>전역 단축키 호출: Ctrl+Shift 기반으로 어디서든 팝업 호출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13432"/>
            <a:ext cx="292608" cy="292608"/>
          </a:xfrm>
          <a:prstGeom prst="round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52120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B38"/>
                </a:solidFill>
                <a:latin typeface="맑은 고딕"/>
              </a:defRPr>
            </a:pPr>
            <a:r>
              <a:t>커서 인접 팝업 UI: 검색·Top5·카테고리를 한 화면에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26664"/>
            <a:ext cx="292608" cy="292608"/>
          </a:xfrm>
          <a:prstGeom prst="round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52120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B38"/>
                </a:solidFill>
                <a:latin typeface="맑은 고딕"/>
              </a:defRPr>
            </a:pPr>
            <a:r>
              <a:t>텍스트·이미지 상용구: 문구뿐 아니라 서명·로고 이미지까지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39896"/>
            <a:ext cx="292608" cy="292608"/>
          </a:xfrm>
          <a:prstGeom prst="round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30752"/>
            <a:ext cx="52120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B38"/>
                </a:solidFill>
                <a:latin typeface="맑은 고딕"/>
              </a:defRPr>
            </a:pPr>
            <a:r>
              <a:t>관리·설정·도움말: 비개발자도 운영 가능한 화면 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53128"/>
            <a:ext cx="292608" cy="292608"/>
          </a:xfrm>
          <a:prstGeom prst="round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43984"/>
            <a:ext cx="52120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B38"/>
                </a:solidFill>
                <a:latin typeface="맑은 고딕"/>
              </a:defRPr>
            </a:pPr>
            <a:r>
              <a:t>로컬 저장 구조: SQLite와 AppData 기반의 독립 실행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143000"/>
            <a:ext cx="475488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1271016"/>
            <a:ext cx="442569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후속 고도화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1636776"/>
            <a:ext cx="4425696" cy="3694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1. 설치 패키지 완성 및 배포 테스트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2. Import/Export ZIP 기능 완성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3. 마우스 휠 클릭 호출 안정화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4. 자동 백업 및 복구 기능 추가</a:t>
            </a:r>
          </a:p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5. Office·브라우저·메신저 호환성 매트릭스 실측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10744200" cy="768096"/>
          </a:xfrm>
          <a:prstGeom prst="roundRect">
            <a:avLst/>
          </a:prstGeom>
          <a:solidFill>
            <a:srgbClr val="EBF2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5751576"/>
            <a:ext cx="104150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F5DB5"/>
                </a:solidFill>
                <a:latin typeface="맑은 고딕"/>
              </a:defRPr>
            </a:pPr>
            <a:r>
              <a:t>한 줄 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117336"/>
            <a:ext cx="10415016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242B38"/>
                </a:solidFill>
                <a:latin typeface="맑은 고딕"/>
              </a:defRPr>
            </a:pPr>
            <a:r>
              <a:t>QuickPaste Manager는 반복 입력 작업을 줄이기 위한 실무형 Windows 유틸리티로, 핵심 사용 흐름을 실제 화면과 동작 가능한 구조로 구현했다.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828C9B"/>
                </a:solidFill>
                <a:latin typeface="맑은 고딕"/>
              </a:defRPr>
            </a:pPr>
            <a:r>
              <a:t>감사합니다 | QuickPaste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1035</Words>
  <Application>Microsoft Office PowerPoint</Application>
  <PresentationFormat>와이드스크린</PresentationFormat>
  <Paragraphs>191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파이낸스</dc:creator>
  <cp:keywords/>
  <dc:description>generated using python-pptx</dc:description>
  <cp:lastModifiedBy>낸스 파이</cp:lastModifiedBy>
  <cp:revision>2</cp:revision>
  <dcterms:created xsi:type="dcterms:W3CDTF">2013-01-27T09:14:16Z</dcterms:created>
  <dcterms:modified xsi:type="dcterms:W3CDTF">2026-06-01T09:30:00Z</dcterms:modified>
  <cp:category/>
</cp:coreProperties>
</file>